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Bonjour à tous! Avec [Nom Étudiant 2], on va vous présenter aujourd'hui l'objectif A15 : la lombalgie aiguë — un des motifs de consultation les plus fréquents en médecine familiale. La présentation dure environ 35-40 minutes et sera interactive : vignettes cliniques, questions à main levée et un petit quiz à la fin. N'hésitez pas à répondre même si vous n'êtes pas sûrs — c'est le but! [Timing: 1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Voici le plan. On va alterner entre contenu théorique et mises en situation pratiques — c'est vraiment pensé pour être interactif, donc sentez-vous libres de participer activement, poser des questions, débattre entre vous. [Timing: 1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Ce sont essentiellement les objectifs officiels du stage A15, reformulés en objectifs concrets. On y reviendra à la fin pour vérifier qu'on les a tous couverts. [Timing: 1 min — passer rapidement]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Lancer la discussion (3-4 min), laisser le groupe proposer des questions à voix haute — ne pas révéler tout de suite. Réponses attendues à faire ressortir : mécanisme précis de la douleur, irradiation, engourdissement/faiblesse, symptômes urinaires ou intestinaux, antécédents (cancer, ostéoporose, chirurgie rachidienne récente), fièvre, perte de poids, contexte professionnel/psychosocial. Conclure : « Toutes ces questions visent à dépister les fameux drapeaux rouges qu'on va voir plus loin. » Garder ce cas en tête, on y revient à la diapo sur l'anamnèse. [Timing: 4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Souligner le caractère bénin et autolimité de la majorité des cas — message clé qu'on redonnera au patient plus tard. Sondage rapide à main levée : « Selon vous, quel pourcentage des lombalgies aiguës s'améliore en 6 semaines sans intervention spécifique? » Laisser 2-3 réponses puis révéler 90%. [Timing: 2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Insister — la très grande majorité des lombalgies sont mécaniques et bénignes. Le rôle du clinicien est de dépister la petite minorité qui cache quelque chose de plus sérieux : c'est exactement le rôle des drapeaux rouges, qu'on voit à la prochaine diapo. [Timing: 2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Quiz rapide vrai/faux avec le groupe. Lire ces mini-vignettes et demander « drapeau rouge, oui ou non? » : (1) Femme 68 ans, nouvelle lombalgie sans trauma → OUI (âge &gt; 50). (2) Homme 35 ans, lombalgie mécanique après jardinage, aucun autre symptôme → NON. (3) Patient avec ATCD de cancer du sein, douleur dorsale nocturne → OUI. (4) Patiente sous corticostéroïdes chroniques, chute légère → OUI (risque de fracture ostéoporotique). [Timing: 3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Vignette rapide — « Homme 55 ans, lombalgie sévère depuis 3 jours, ce matin incapable d'uriner et engourdissement du périnée. Que faites-vous? » Réponse attendue : envoyer à l'urgence immédiatement, ne pas attendre un rendez-vous d'imagerie ambulatoire. Insister : c'est l'un des rares diagnostics de lombalgie qui constitue une vraie urgence médico-chirurgicale — à ne jamais manquer. [Timing: 3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Revenir au cas de M. Tremblay (diapo 4) — comparer avec les questions proposées par le groupe. Souligner l'importance du contexte psychosocial (« drapeaux jaunes »), qu'on approfondira plus tard dans la présentation. [Timing: 2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Proposer une démonstration rapide du test de Lasègue avec un(e) volontaire (patient couché, élévation jambe tendue, positif si reproduit la douleur radiculaire entre 30 et 70°). Rappeler les dermatomes clés : L4 (face médiale de la jambe, réflexe rotulien), L5 (dos du pied, gros orteil), S1 (face latérale/plante du pied, réflexe achilléen). [Timing: 4 min avec démonstration]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Donner 5 minutes de discussion en petits groupes (circuler si possible), puis débriefer avec 2-3 équipes. Réponses attendues : (1) Radiculopathie L5 probablement secondaire à une hernie discale; (2) L5 (dos du pied); (3) NON — aucun drapeau rouge, imagerie non indiquée d'emblée; traitement conservateur d'abord, imagerie réservée à un échec de traitement après 4-6 semaines ou à l'apparition de red flags. [Timing: 6-7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Mentionner qu'environ 90% des IRM lombaires chez des personnes asymptomatiques montrent une anomalie discale — d'où l'importance de ne pas imager sans indication claire, sous peine de « traiter une image » plutôt qu'un patient. Lien avec Choosing Wisely Canada. [Timing: 3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Revenir sur Mme Gagnon (cas #2) et M. Tremblay (cas #1) pour illustrer où ils se situent dans ce tableau. [Timing: 2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Insister — le message le plus important pour le pronostic est de rester actif et d'éviter le repos strict. C'est souvent contre-intuitif pour les patients qui s'attendent à ce qu'on leur prescrive du repos. [Timing: 2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Sondage — « Qui prescrirait des opioïdes en 1re ligne pour une lombalgie aiguë mécanique? » Normalement personne : l'occasion de renforcer le message des lignes directrices actuelles (ex. American College of Physicians, INESSS). [Timing: 3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Discussion brève avec le groupe : « Comment pourriez-vous aborder ces facteurs avec un patient sans le braquer? » Laisser 2-3 interventions avant de compléter avec les pistes affichées. [Timing: 3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Rappeler le cas de queue de cheval (diapo 8) comme exemple d'urgence, et le cas de Mme Gagnon (cas #2) comme exemple qui pourrait nécessiter une référence seulement en l'absence d'amélioration après plusieurs semaines. [Timing: 2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C'est le message qu'on veut que les futurs médecins retiennent — un counseling clair et rassurant, et savoir précisément quoi dire au patient pour qu'il sache quand reconsulter en urgence. [Timing: 2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Faire voter le groupe à main levée avant de révéler la réponse. Réponse : imagerie indiquée MAINTENANT — plusieurs drapeaux rouges présents (âge, ATCD de cancer, douleur nocturne non mécanique, perte de poids inexpliquée) → suspicion de métastase osseuse. Discuter la suite : IRM lombaire ± bilan oncologique, référence en oncologie/orthopédie selon les trouvailles. [Timing: 4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Poser les questions une à une, laisser répondre à voix haute avant de révéler (les réponses sont déjà affichées à l'écran pour vous — les cacher si vous préférez un vrai format Kahoot en présentant une version sans les réponses). Garder un ton ludique pour clore sur une note dynamique. [Timing: 4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: Résumer en une minute — ce sont les points à retenir pour l'examen et pour la pratique clinique. [Timing: 1 min]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2 : Mentionner que ces ressources seront partagées avec le groupe pour ceux qui veulent approfondir le sujet. [Timing: 30 sec]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ÉTUDIANT 1 &amp; ÉTUDIANT 2 : Ouvrir la période de questions, remercier le groupe pour sa participation active. [Timing: reste du temps disponible]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7374C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114800" cy="4114800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MÉDECINE FAMILIALE  •  OBJECTIF DE STAGE A15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908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Lombalgie aiguë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clinique pratique en médecine familiale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étudiante — 3e année de médecine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Étudiant 1]  &amp;  [Nom Étudiant 2]  •  Semaine académique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va couvrir aujourd'hui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682496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clinique d'ouverture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04288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249424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 et épidémiologie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2816352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Étiologies et drapeaux rouges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438144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3383280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Anamnèse et examen physique ciblés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005072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25296" y="3950208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 : quand (et quand ne pas) imager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4517136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et conseils au patient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138928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25296" y="5084064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cliniques intégrateurs + quiz final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17373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CFE7E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75320" y="196596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interactif : vignettes cliniques, discussions en petits groupes, votes à main levée et quiz. Vos réponses et questions sont les bienvenues en tout temps!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D'APPRENTISSAGE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objectifs d'apprentissage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de cette présentation, vous serez capable de 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109087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la lombalgie aiguë et décrire son épidémiologie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les drapeaux rouges nécessitant une investigation ou une référence urgente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Réaliser une anamnèse et un examen physique ciblés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 les principales étiologies mécaniques et non mécaniques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 les indications (et surtout les non-indications) d'imagerie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Élaborer un plan de prise en charge basé sur les données probantes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le syndrome de la queue de cheval comme urgence médicale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Conseiller adéquatement un patient sur le pronostic et le retour aux activités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CLINIQUE #1 — MISE EN 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Tremblay, 42 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828800"/>
          </a:xfrm>
          <a:prstGeom prst="roundRect">
            <a:avLst>
              <a:gd name="adj" fmla="val 4000"/>
            </a:avLst>
          </a:prstGeom>
          <a:solidFill>
            <a:srgbClr val="CFE7E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10268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présente à votre clinique pour une douleur lombaire basse débutée il y a 2 jours, après avoir soulevé une boîte lourde en déménageant. La douleur est localisée au bas du dos, sans irradiation aux jambes. Aucun antécédent médical notable.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886200"/>
            <a:ext cx="10268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À vous : quelles questions poseriez-vous en premier à ce patient?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de groupe — 3 à 4 minutes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Lombalgie : de quoi parle-t-on?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035040" cy="3749040"/>
          </a:xfrm>
          <a:prstGeom prst="roundRect">
            <a:avLst>
              <a:gd name="adj" fmla="val 1951"/>
            </a:avLst>
          </a:prstGeom>
          <a:solidFill>
            <a:srgbClr val="CFE7E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Douleur, tension musculaire ou raideur localisée sous le rebord costal et au-dessus des plis fessiers, avec ou sans douleur référée au(x) membre(s) inférieur(s).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60120" y="324612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31912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Aiguë : </a:t>
            </a:r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semaines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3959352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9044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Subaiguë : </a:t>
            </a:r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à 12 semaines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" y="4672584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617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Chronique : </a:t>
            </a:r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12 semaines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6640" y="1783080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874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915400" y="189280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aura un épisode de lombalgie au cours de sa vie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06640" y="3081528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E2984C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3172968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915400" y="3191256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lombalgies aiguës s'améliorent nettement en 6 semaines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06640" y="4379976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0B4F6C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4471416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1re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915400" y="448970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d'incapacité dans le monde et motif fréquent de consultation en 1re ligne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D'où vient la douleur?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83864" cy="685800"/>
          </a:xfrm>
          <a:prstGeom prst="roundRect">
            <a:avLst>
              <a:gd name="adj" fmla="val 10667"/>
            </a:avLst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10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~90–95 %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48386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697480"/>
            <a:ext cx="30815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Entorse / étirement lombaire (la plus fréquente)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Dégénérescence discale ou facettaire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Hernie discale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Sténose spinale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Spondylolisthésis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(ostéoporotique ou traumatique)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52544" y="1783080"/>
            <a:ext cx="3483864" cy="685800"/>
          </a:xfrm>
          <a:prstGeom prst="roundRect">
            <a:avLst>
              <a:gd name="adj" fmla="val 10667"/>
            </a:avLst>
          </a:prstGeom>
          <a:solidFill>
            <a:srgbClr val="3E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810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mécanique / systémique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35424" y="21762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52544" y="2560320"/>
            <a:ext cx="348386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3712" y="2697480"/>
            <a:ext cx="30815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Néoplasie (primaire ou métastatique)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(discite, ostéomyélite, abcès épidural)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Spondylarthropathie inflammatoire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65008" y="1783080"/>
            <a:ext cx="3483864" cy="685800"/>
          </a:xfrm>
          <a:prstGeom prst="roundRect">
            <a:avLst>
              <a:gd name="adj" fmla="val 10667"/>
            </a:avLst>
          </a:prstGeom>
          <a:solidFill>
            <a:srgbClr val="E2984C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181051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Douleur référée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47888" y="217627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5008" y="2560320"/>
            <a:ext cx="348386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2697480"/>
            <a:ext cx="30815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Rénale (pyélonéphrite, lithiase)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Vasculaire (anévrisme aortique)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Gynécologique / pelvienne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Gastro-intestinale (pancréatite, ulcère)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DRAPEAUX ROUGES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Signes qui doivent alarmer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178308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783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significatif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26517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651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&lt; 20 ans ou &gt; 50 ans (nouvelle lombalgie)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352044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3520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Antécédent de cancer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" y="438912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4389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poids inexpliquée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30352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43000" y="525780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25" name="Text 23"/>
          <p:cNvSpPr/>
          <p:nvPr/>
        </p:nvSpPr>
        <p:spPr>
          <a:xfrm>
            <a:off x="1325880" y="5257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Fièvre, immunosuppression, usage de drogues IV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629400" y="178308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1783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Douleur nocturne, non soulagée au repos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26480" y="269748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29400" y="26517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2651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neurologique progressif ou sévère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26480" y="356616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29400" y="352044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3520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Ostéoporose ou corticothérapie prolongée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26480" y="443484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39" name="Text 37"/>
          <p:cNvSpPr/>
          <p:nvPr/>
        </p:nvSpPr>
        <p:spPr>
          <a:xfrm>
            <a:off x="612648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629400" y="438912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41" name="Text 39"/>
          <p:cNvSpPr/>
          <p:nvPr/>
        </p:nvSpPr>
        <p:spPr>
          <a:xfrm>
            <a:off x="6812280" y="4389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Chirurgie rachidienne récente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26480" y="5303520"/>
            <a:ext cx="365760" cy="365760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629400" y="525780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F5DCD5"/>
          </a:solidFill>
          <a:ln/>
        </p:spPr>
      </p:sp>
      <p:sp>
        <p:nvSpPr>
          <p:cNvPr id="45" name="Text 43"/>
          <p:cNvSpPr/>
          <p:nvPr/>
        </p:nvSpPr>
        <p:spPr>
          <a:xfrm>
            <a:off x="6812280" y="52578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de queue de cheval (voir diapo suivante)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 À NE PAS MANQUER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Syndrome de la queue de cheval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des racines nerveuses lombo-sacrées distales → urgence chirurgicale.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25296" y="2231136"/>
            <a:ext cx="6455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urinaire (signe le plus sensible) ou incontinence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52928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5296" y="2798064"/>
            <a:ext cx="6455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Anesthésie « en selle » (périnéale)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419856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3364992"/>
            <a:ext cx="6455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 bilatérale des membres inférieurs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5296" y="3931920"/>
            <a:ext cx="6455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Diminution du tonus du sphincter anal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553712"/>
            <a:ext cx="384048" cy="384048"/>
          </a:xfrm>
          <a:prstGeom prst="ellipse">
            <a:avLst/>
          </a:prstGeom>
          <a:solidFill>
            <a:srgbClr val="B340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25296" y="4498848"/>
            <a:ext cx="6455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Dysfonction sexuelle nouvelle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228600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B3402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suspicion 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28803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lombaire en urgence + consultation neurochirurgie / orthopédie STAT (idéalement &lt; 24–48 h)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ANAMNÈSE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Questionnaire ciblé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728216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Histoire de la douleur : début, mécanisme déclencheur, caractère, irradiation, facteurs aggravants/soulageants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441448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neurologiques : engourdissement, faiblesse, paresthésies, distribution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3154680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Symptômes de queue de cheval : urinaires, intestinaux, anesthésie en selle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3867912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systèmes ciblée : fièvre, perte de poids, sudations nocturnes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636008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25296" y="4581144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Antécédents : cancer, ostéoporose, chirurgie rachidienne, immunosuppression, usage de drogues IV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5294376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psychosocial et professionnel : travail, attentes, impact fonctionnel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PHYSIQUE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rechercher à l'examen?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7373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&amp; mobilité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48386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487168"/>
            <a:ext cx="30815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et démarche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de mouvement lombaire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Palpation des apophyses épineuses et de la musculature paravertébrale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17830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82896" y="17373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neurologique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352544" y="2331720"/>
            <a:ext cx="348386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3712" y="2487168"/>
            <a:ext cx="30815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musculaire (myotomes L2 à S1)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Réflexes : rotulien (L4), achilléen (S1)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par dermatomes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Réflexe cutané plantaire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5008" y="17830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7" name="Text 15"/>
          <p:cNvSpPr/>
          <p:nvPr/>
        </p:nvSpPr>
        <p:spPr>
          <a:xfrm>
            <a:off x="806500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1737360"/>
            <a:ext cx="2953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Manœuvres spéciales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65008" y="2331720"/>
            <a:ext cx="3483864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2487168"/>
            <a:ext cx="308152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Lasègue (SLR) : sensible pour hernie discale L4-S1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Lasègue croisé : peu sensible, très spécifique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FABER : pathologie sacro-iliaque/hanche</a:t>
            </a:r>
            <a:endParaRPr lang="en-US" sz="1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Tonus du sphincter anal si suspicion de queue de cheval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CLINIQUE #2 — TRAVAIL EN PETITS GROUPES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Mme Gagnon, 38 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965960"/>
          </a:xfrm>
          <a:prstGeom prst="roundRect">
            <a:avLst>
              <a:gd name="adj" fmla="val 3721"/>
            </a:avLst>
          </a:prstGeom>
          <a:solidFill>
            <a:srgbClr val="CFE7E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102687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depuis 10 jours avec douleur irradiant dans la fesse droite et à l'arrière de la cuisse jusqu'au mollet. Aggravée à la toux et en position assise prolongée. Engourdissement au dos du pied droit. Aucun drapeau rouge à l'anamnèse. Lasègue positif à droite à 40°.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97764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équipes de 2-3 : (1) Diagnostic le plus probable? (2) Dermatome(s) atteint(s)? (3) Faut-il imager maintenant?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petits groupes — 5 minutes, puis retour en grand groupe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Faut-il imager? Pas si vite…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clé : l'imagerie n'est PAS recommandée de routine dans les 4-6 premières semaines en l'absence de drapeaux rouges.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d'imagerie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6324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d'un drapeau rouge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neurologique progressif ou sévère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du traitement conservateur après 4-6 semaines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 de syndrome de la queue de cheval → IRM urgente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651760"/>
            <a:ext cx="5285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modalité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3063240"/>
            <a:ext cx="528523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Radiographie simple : suspicion de fracture, spondylolisthésis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IRM : suspicion d'infection, néoplasie, queue de cheval, candidat chirurgical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4343400"/>
            <a:ext cx="5285232" cy="1691640"/>
          </a:xfrm>
          <a:prstGeom prst="roundRect">
            <a:avLst>
              <a:gd name="adj" fmla="val 4324"/>
            </a:avLst>
          </a:prstGeom>
          <a:solidFill>
            <a:srgbClr val="F5DCD5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48056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d'une imagerie précoce non indiquée : trouvailles incidentelles fréquentes (même chez les asymptomatiques), anxiété du patient, coûts, retards de traitement, sur-médicalisation.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DIFFÉRENTIEL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Résumé des étiologies à considérer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885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Diagnostic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Indice clinique clé</a:t>
                      </a:r>
                      <a:endParaRPr lang="en-US" sz="12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2E"/>
                          </a:solidFill>
                        </a:rPr>
                        <a:t>Lombalgie mécanique simple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B2E"/>
                          </a:solidFill>
                        </a:rPr>
                        <a:t>Douleur locale, mécanique, aucun drapeau rouge, examen neuro normal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2E"/>
                          </a:solidFill>
                        </a:rPr>
                        <a:t>Hernie discale / radiculopathie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B2E"/>
                          </a:solidFill>
                        </a:rPr>
                        <a:t>Douleur irradiante en dermatome, Lasègue +, déficit sensitif/moteur focal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7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2E"/>
                          </a:solidFill>
                        </a:rPr>
                        <a:t>Sténose spinale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B2E"/>
                          </a:solidFill>
                        </a:rPr>
                        <a:t>Claudication neurogène, soulagée en flexion (position penchée), âge avancé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2E"/>
                          </a:solidFill>
                        </a:rPr>
                        <a:t>Spondylolisthésis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B2E"/>
                          </a:solidFill>
                        </a:rPr>
                        <a:t>Douleur mécanique chronique, parfois radiculopathie associée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7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2E"/>
                          </a:solidFill>
                        </a:rPr>
                        <a:t>Fracture (ostéoporotique/traumatique)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B2E"/>
                          </a:solidFill>
                        </a:rPr>
                        <a:t>Trauma ou chute, âge avancé, corticothérapie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2E"/>
                          </a:solidFill>
                        </a:rPr>
                        <a:t>Infection (discite, abcès épidural)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B2E"/>
                          </a:solidFill>
                        </a:rPr>
                        <a:t>Fièvre, immunosuppression, usage IV, douleur nocturne progressive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7E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2E"/>
                          </a:solidFill>
                        </a:rPr>
                        <a:t>Néoplasie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B2E"/>
                          </a:solidFill>
                        </a:rPr>
                        <a:t>ATCD de cancer, perte de poids, douleur nocturne non mécanique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2E"/>
                          </a:solidFill>
                        </a:rPr>
                        <a:t>Douleur référée (rénale, aortique, gynéco)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82B2E"/>
                          </a:solidFill>
                        </a:rPr>
                        <a:t>Symptômes systémiques associés, douleur atypique/pulsatile</a:t>
                      </a:r>
                      <a:endParaRPr lang="en-US" sz="1150" dirty="0"/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7E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non pharmacologique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728216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actif : encourager le maintien des activités habituelles dès que tolérable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441448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l'alitement prolongé (associé à un moins bon pronostic)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3154680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Chaleur locale pour soulagement symptomatique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3867912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Physiothérapie / exercices actifs si absence d'amélioration à 2-4 semaines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636008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25296" y="4581144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du patient : nature bénigne et autolimitée, rassurance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5294376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complémentaires (manipulation vertébrale, massage) : bénéfice modeste possible pour certains patients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pharmacologique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728216"/>
            <a:ext cx="10323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1re ligne : AINS (si aucune contre-indication) ± acétaminophène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505456"/>
            <a:ext cx="10323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Relaxants musculaires : cure courte (&lt; 1 semaine) possible si spasme important — attention à la sédation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3282696"/>
            <a:ext cx="10323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Opioïdes : à éviter en 1re ligne — réservés aux cas réfractaires sévères, courte durée, réévaluation rapprochée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4059936"/>
            <a:ext cx="10323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Corticostéroïdes systémiques : non recommandés pour une lombalgie mécanique simple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25296" y="4837176"/>
            <a:ext cx="10323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Infiltrations épidurales de corticostéroïdes : à considérer pour radiculopathie persistante (effet surtout à court terme)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DRAPEAUX JAUNES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facteurs psychosociaux comptent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de risque de chronicisation (« yellow flags ») 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25296" y="2139696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Peur du mouvement / évitement (kinésiophobie)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61488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5296" y="2706624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Catastrophisation de la douleur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28416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3273552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Détresse psychologique, dépression, anxiété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5296" y="3840480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Insatisfaction au travail, conflits de compensation (CNESST)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62272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25296" y="4407408"/>
            <a:ext cx="6364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Attentes négatives quant au rétablissement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21945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CFE7E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75320" y="242316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: comment aborder ces facteurs avec un patient sans le braquer? Pistes : valider la douleur, éduquer, encourager un retour graduel à l'activité, dépister la détresse psychologique, impliquer tôt la réadaptation si marqués.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référer — et à qui?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85232" cy="3657600"/>
          </a:xfrm>
          <a:prstGeom prst="roundRect">
            <a:avLst>
              <a:gd name="adj" fmla="val 2000"/>
            </a:avLst>
          </a:prstGeom>
          <a:solidFill>
            <a:srgbClr val="F5DCD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— même journée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7365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de la queue de cheval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neurologique sévère ou rapidement progressif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 d'infection ou de fracture instable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Urgence / neurochirurgie / orthopédie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85232" cy="3657600"/>
          </a:xfrm>
          <a:prstGeom prst="roundRect">
            <a:avLst>
              <a:gd name="adj" fmla="val 2000"/>
            </a:avLst>
          </a:prstGeom>
          <a:solidFill>
            <a:srgbClr val="CFE7E4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6596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URGENT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423160"/>
            <a:ext cx="47365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Radiculopathie persistante malgré 6-8 semaines de traitement conservateur bien mené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Orthopédie, neurochirurgie ou physiatrie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Douleur chronique invalidante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Clinique de la douleur, réadaptation multidisciplinaire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AU PATIENT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dit à nos patients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728216"/>
            <a:ext cx="6364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pronostic est excellent : la majorité s'améliore nettement en 4-6 semaines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368296"/>
            <a:ext cx="6364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actif et reprendre les activités progressivement, incluant le travail dès que possible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3008376"/>
            <a:ext cx="6364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le repos strict au lit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3648456"/>
            <a:ext cx="6364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la chaleur et les analgésiques en vente libre au besoin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384048" cy="384048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25296" y="4288536"/>
            <a:ext cx="6364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Adopter de bonnes pratiques ergonomiques (soulever avec les jambes, éviter les torsions)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55280" y="1783080"/>
            <a:ext cx="3566160" cy="3977640"/>
          </a:xfrm>
          <a:prstGeom prst="roundRect">
            <a:avLst>
              <a:gd name="adj" fmla="val 2564"/>
            </a:avLst>
          </a:prstGeom>
          <a:solidFill>
            <a:srgbClr val="B3402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Reconsulter rapidement si :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423160"/>
            <a:ext cx="3017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Engourdissement périnéal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uriner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 importante d'une jambe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Fièvre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CLINIQUE #3 — SYNTHÈSE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Bouchard, 61 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874520"/>
          </a:xfrm>
          <a:prstGeom prst="roundRect">
            <a:avLst>
              <a:gd name="adj" fmla="val 3902"/>
            </a:avLst>
          </a:prstGeom>
          <a:solidFill>
            <a:srgbClr val="CFE7E4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10268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depuis 3 semaines, sans trauma. ATCD de cancer de la prostate traité il y a 5 ans. Douleur présente la nuit, non soulagée par le repos, avec une perte de poids de 4 kg non expliquée dans les 2 derniers mois. Examen neurologique normal.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0B4F6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88620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Vote à main levée : qui pense qu'il faut imager ce patient MAINTENANT? Qui pense qu'on peut attendre?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avant de révéler la réponse!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Testez vos connaissances!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745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Quelle est la durée définissant une lombalgie « aiguë »?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52360" y="1874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</a:t>
            </a:r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semaines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CFE7E4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44952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Nommez 2 signes du syndrome de la queue de cheval.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52360" y="30449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</a:t>
            </a:r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urinaire, anesthésie en selle, faiblesse bilatérale, tonus sphinctérien diminué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23944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15384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Vrai ou faux : l'imagerie est recommandée d'emblée pour toute lombalgie aiguë.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421538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</a:t>
            </a:r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294376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CFE7E4"/>
          </a:solidFill>
          <a:ln w="12700">
            <a:solidFill>
              <a:srgbClr val="DD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385816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Quel dermatome est associé à une faiblesse de la dorsiflexion du gros orteil?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0" y="538581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: </a:t>
            </a:r>
            <a:pPr indent="0" marL="0">
              <a:buNone/>
            </a:pPr>
            <a:r>
              <a:rPr lang="en-US" sz="12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messages clés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25296" y="1728216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grande majorité des lombalgies aiguës sont bénignes et s'améliorent en 4-6 semaines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441448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rôle central du clinicien : dépister les drapeaux rouges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209544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25296" y="3154680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syndrome de la queue de cheval est une urgence chirurgicale à ne jamais manquer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922776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5296" y="3867912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L'imagerie n'est pas indiquée d'emblée en l'absence de drapeaux rouges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636008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25296" y="4581144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actif est le traitement le plus important — éviter l'alitement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E29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25296" y="5294376"/>
            <a:ext cx="10323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counseling clair mène à une meilleure adhésion et moins d'anxiété chez le patient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9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aller plus loin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09087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Collège des médecins de famille du Canada — Sujets prioritaires : Lombalgie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Wisely Canada — Recommandations sur l'imagerie et la lombalgie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INESSS (Québec) — Outils cliniques pour la 1re ligne : Lombalgie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Qaseem A, et al. Noninvasive Treatments for Acute, Subacute, and Chronic Low Back Pain: ACP Clinical Practice Guideline. Ann Intern Med. 2017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8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— Evaluation of low back pain in adults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Lombalgie aiguë — Objectif A15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4F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5486400" cy="5486400"/>
          </a:xfrm>
          <a:prstGeom prst="ellipse">
            <a:avLst/>
          </a:prstGeom>
          <a:solidFill>
            <a:srgbClr val="0737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Merci! Questions?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703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Étudiant 1]  &amp;  [Nom Étudiant 2]  •  Objectif A15 — Lombalgie aiguë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2026-08-28T12:25:04Z</dcterms:created>
  <dcterms:modified xsi:type="dcterms:W3CDTF">2026-08-28T12:25:04Z</dcterms:modified>
</cp:coreProperties>
</file>